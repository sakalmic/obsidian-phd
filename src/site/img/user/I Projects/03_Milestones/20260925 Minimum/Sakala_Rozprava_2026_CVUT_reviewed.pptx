
<file path=[Content_Types].xml><?xml version="1.0" encoding="utf-8"?>
<Types xmlns="http://schemas.openxmlformats.org/package/2006/content-types"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</Types>
</file>

<file path=_rels/.rels><?xml version='1.0' encoding='UTF-8' standalone='yes'?>
<Relationships xmlns="http://schemas.openxmlformats.org/package/2006/relationships"><Relationship Id="R08d85ab5266042bd" Type="http://schemas.openxmlformats.org/package/2006/relationships/metadata/core-properties" Target="docProps/core.xml"/><Relationship Id="Rd0bd5cf6524d4724" Type="http://schemas.openxmlformats.org/officeDocument/2006/relationships/officeDocument" Target="ppt/presentation.xml"/><Relationship Id="rId1" Type="http://schemas.openxmlformats.org/officeDocument/2006/relationships/custom-properties" Target="docProps/custom.xml"/><Relationship Id="R675993bd94684daa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8650ec7e2e7494f"/>
  </p:sldMasterIdLst>
  <p:notesMasterIdLst>
    <p:notesMasterId xmlns:r="http://schemas.openxmlformats.org/officeDocument/2006/relationships" r:id="Raeb39f0389224796"/>
  </p:notesMasterIdLst>
  <p:sldIdLst>
    <p:sldId xmlns:r="http://schemas.openxmlformats.org/officeDocument/2006/relationships" id="256" r:id="Rdbaab46b081a4424"/>
    <p:sldId xmlns:r="http://schemas.openxmlformats.org/officeDocument/2006/relationships" id="257" r:id="R5e235be372c34680"/>
    <p:sldId xmlns:r="http://schemas.openxmlformats.org/officeDocument/2006/relationships" id="258" r:id="R91795c08b9114930"/>
    <p:sldId xmlns:r="http://schemas.openxmlformats.org/officeDocument/2006/relationships" id="259" r:id="Rb8296f9546604b89"/>
    <p:sldId xmlns:r="http://schemas.openxmlformats.org/officeDocument/2006/relationships" id="260" r:id="Rffc6990022ca4f44"/>
    <p:sldId xmlns:r="http://schemas.openxmlformats.org/officeDocument/2006/relationships" id="261" r:id="R62cd3c20c5d64060"/>
    <p:sldId xmlns:r="http://schemas.openxmlformats.org/officeDocument/2006/relationships" id="262" r:id="R1baa40aba83744e8"/>
    <p:sldId xmlns:r="http://schemas.openxmlformats.org/officeDocument/2006/relationships" id="263" r:id="R3cccae2737014797"/>
    <p:sldId xmlns:r="http://schemas.openxmlformats.org/officeDocument/2006/relationships" id="264" r:id="R6910ce6528f34738"/>
    <p:sldId xmlns:r="http://schemas.openxmlformats.org/officeDocument/2006/relationships" id="265" r:id="Re510f6aa0e86485f"/>
    <p:sldId xmlns:r="http://schemas.openxmlformats.org/officeDocument/2006/relationships" id="266" r:id="Rf3416c8c01ba4fda"/>
    <p:sldId xmlns:r="http://schemas.openxmlformats.org/officeDocument/2006/relationships" id="267" r:id="R494d6ee8592a4413"/>
    <p:sldId xmlns:r="http://schemas.openxmlformats.org/officeDocument/2006/relationships" id="268" r:id="Rd639fb3bd14a4b0d"/>
    <p:sldId xmlns:r="http://schemas.openxmlformats.org/officeDocument/2006/relationships" id="269" r:id="Ra42f0cf0a09e440d"/>
    <p:sldId xmlns:r="http://schemas.openxmlformats.org/officeDocument/2006/relationships" id="270" r:id="R9d578bdd46834556"/>
    <p:sldId xmlns:r="http://schemas.openxmlformats.org/officeDocument/2006/relationships" id="271" r:id="R61233568d4394a8b"/>
    <p:sldId xmlns:r="http://schemas.openxmlformats.org/officeDocument/2006/relationships" id="272" r:id="R5f8910ae0bd34a85"/>
    <p:sldId xmlns:r="http://schemas.openxmlformats.org/officeDocument/2006/relationships" id="273" r:id="Ree5ab724cbe24526"/>
  </p:sldIdLst>
  <p:sldSz cx="9144000" cy="6858000"/>
  <p:notesSz cx="6858000" cy="9144000"/>
  <p:embeddedFontLst>
    <p:embeddedFont>
      <p:font typeface="Technika"/>
      <p:regular xmlns:r="http://schemas.openxmlformats.org/officeDocument/2006/relationships" r:id="Rdba841fd5f5b48a8"/>
      <p:bold xmlns:r="http://schemas.openxmlformats.org/officeDocument/2006/relationships" r:id="R819ed40ea3ae4edb"/>
      <p:italic xmlns:r="http://schemas.openxmlformats.org/officeDocument/2006/relationships" r:id="R7c42cf049f7b4f3f"/>
      <p:boldItalic xmlns:r="http://schemas.openxmlformats.org/officeDocument/2006/relationships" r:id="Re681bc1431cb4729"/>
    </p:embeddedFont>
    <p:embeddedFont>
      <p:font typeface="Technika-Bold"/>
      <p:regular xmlns:r="http://schemas.openxmlformats.org/officeDocument/2006/relationships" r:id="Re2a2eba4fd7c466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ce3b759415084a00" Type="http://schemas.openxmlformats.org/officeDocument/2006/relationships/viewProps" Target="viewProps.xml"/><Relationship Id="Rdbaab46b081a4424" Type="http://schemas.openxmlformats.org/officeDocument/2006/relationships/slide" Target="slides/slide1.xml"/><Relationship Id="R62cd3c20c5d64060" Type="http://schemas.openxmlformats.org/officeDocument/2006/relationships/slide" Target="slides/slide6.xml"/><Relationship Id="R494d6ee8592a4413" Type="http://schemas.openxmlformats.org/officeDocument/2006/relationships/slide" Target="slides/slide12.xml"/><Relationship Id="R5f8910ae0bd34a85" Type="http://schemas.openxmlformats.org/officeDocument/2006/relationships/slide" Target="slides/slide17.xml"/><Relationship Id="R38650ec7e2e7494f" Type="http://schemas.openxmlformats.org/officeDocument/2006/relationships/slideMaster" Target="slideMasters/slideMaster1.xml"/><Relationship Id="Rdba841fd5f5b48a8" Type="http://schemas.openxmlformats.org/officeDocument/2006/relationships/font" Target="fonts/font.dat"/><Relationship Id="R7c42cf049f7b4f3f" Type="http://schemas.openxmlformats.org/officeDocument/2006/relationships/font" Target="fonts/font3.dat"/><Relationship Id="Ree5ab724cbe24526" Type="http://schemas.openxmlformats.org/officeDocument/2006/relationships/slide" Target="slides/slide18.xml"/><Relationship Id="rId3" Type="http://schemas.openxmlformats.org/officeDocument/2006/relationships/customXml" Target="../customXml/item3.xml"/><Relationship Id="R0a611e7988ce4bac" Type="http://schemas.openxmlformats.org/officeDocument/2006/relationships/theme" Target="theme/theme1.xml"/><Relationship Id="R819ed40ea3ae4edb" Type="http://schemas.openxmlformats.org/officeDocument/2006/relationships/font" Target="fonts/font2.dat"/><Relationship Id="R3cccae2737014797" Type="http://schemas.openxmlformats.org/officeDocument/2006/relationships/slide" Target="slides/slide8.xml"/><Relationship Id="Raeb39f0389224796" Type="http://schemas.openxmlformats.org/officeDocument/2006/relationships/notesMaster" Target="notesMasters/notesMaster1.xml"/><Relationship Id="R15a0d56c6f1d4aa6" Type="http://schemas.openxmlformats.org/officeDocument/2006/relationships/tableStyles" Target="tableStyles.xml"/><Relationship Id="Re681bc1431cb4729" Type="http://schemas.openxmlformats.org/officeDocument/2006/relationships/font" Target="fonts/font4.dat"/><Relationship Id="Rb8296f9546604b89" Type="http://schemas.openxmlformats.org/officeDocument/2006/relationships/slide" Target="slides/slide4.xml"/><Relationship Id="Re510f6aa0e86485f" Type="http://schemas.openxmlformats.org/officeDocument/2006/relationships/slide" Target="slides/slide10.xml"/><Relationship Id="rId2" Type="http://schemas.openxmlformats.org/officeDocument/2006/relationships/customXml" Target="../customXml/item2.xml"/><Relationship Id="R2b6ce37b45304c1f" Type="http://schemas.openxmlformats.org/officeDocument/2006/relationships/presProps" Target="presProps.xml"/><Relationship Id="Rf3416c8c01ba4fda" Type="http://schemas.openxmlformats.org/officeDocument/2006/relationships/slide" Target="slides/slide11.xml"/><Relationship Id="R9d578bdd46834556" Type="http://schemas.openxmlformats.org/officeDocument/2006/relationships/slide" Target="slides/slide15.xml"/><Relationship Id="rId1" Type="http://schemas.openxmlformats.org/officeDocument/2006/relationships/customXml" Target="../customXml/item1.xml"/><Relationship Id="R6910ce6528f34738" Type="http://schemas.openxmlformats.org/officeDocument/2006/relationships/slide" Target="slides/slide9.xml"/><Relationship Id="Rd639fb3bd14a4b0d" Type="http://schemas.openxmlformats.org/officeDocument/2006/relationships/slide" Target="slides/slide13.xml"/><Relationship Id="Re2a2eba4fd7c4667" Type="http://schemas.openxmlformats.org/officeDocument/2006/relationships/font" Target="fonts/font5.dat"/><Relationship Id="R91795c08b9114930" Type="http://schemas.openxmlformats.org/officeDocument/2006/relationships/slide" Target="slides/slide3.xml"/><Relationship Id="Rffc6990022ca4f44" Type="http://schemas.openxmlformats.org/officeDocument/2006/relationships/slide" Target="slides/slide5.xml"/><Relationship Id="R1baa40aba83744e8" Type="http://schemas.openxmlformats.org/officeDocument/2006/relationships/slide" Target="slides/slide7.xml"/><Relationship Id="Ra42f0cf0a09e440d" Type="http://schemas.openxmlformats.org/officeDocument/2006/relationships/slide" Target="slides/slide14.xml"/><Relationship Id="R5e235be372c34680" Type="http://schemas.openxmlformats.org/officeDocument/2006/relationships/slide" Target="slides/slide2.xml"/><Relationship Id="R61233568d4394a8b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theme/theme3.xml" Id="Rd564277e80a54c59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chnika">
      <a:majorFont>
        <a:latin typeface="Technika-Bold"/>
        <a:ea typeface=""/>
        <a:cs typeface=""/>
      </a:majorFont>
      <a:minorFont>
        <a:latin typeface="Technika"/>
        <a:ea typeface=""/>
        <a:cs typeface="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8f8eecbd574d40c3"/><Relationship Type="http://schemas.openxmlformats.org/officeDocument/2006/relationships/notesMaster" Target="../notesMasters/notesMaster1.xml" Id="Rdaf0586de1a04ed7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447d63e046c44b9e"/><Relationship Type="http://schemas.openxmlformats.org/officeDocument/2006/relationships/notesMaster" Target="../notesMasters/notesMaster1.xml" Id="R57c4704237594192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1efe390692d5465d"/><Relationship Type="http://schemas.openxmlformats.org/officeDocument/2006/relationships/notesMaster" Target="../notesMasters/notesMaster1.xml" Id="R521645aa8bce46bb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286b21bb30674598"/><Relationship Type="http://schemas.openxmlformats.org/officeDocument/2006/relationships/notesMaster" Target="../notesMasters/notesMaster1.xml" Id="R79d5edf04609405a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2ca46d0231854e08"/><Relationship Type="http://schemas.openxmlformats.org/officeDocument/2006/relationships/notesMaster" Target="../notesMasters/notesMaster1.xml" Id="R9c7f0d18426f4ac9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cbb12db9669b47ad"/><Relationship Type="http://schemas.openxmlformats.org/officeDocument/2006/relationships/notesMaster" Target="../notesMasters/notesMaster1.xml" Id="Rb479644895c4445e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c9e610bc4e4a4312"/><Relationship Type="http://schemas.openxmlformats.org/officeDocument/2006/relationships/notesMaster" Target="../notesMasters/notesMaster1.xml" Id="R1a365439ad114dd5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3ac04ea206c243a0"/><Relationship Type="http://schemas.openxmlformats.org/officeDocument/2006/relationships/notesMaster" Target="../notesMasters/notesMaster1.xml" Id="Rd5e52b1a0a584743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6bf5fcdf60854768"/><Relationship Type="http://schemas.openxmlformats.org/officeDocument/2006/relationships/notesMaster" Target="../notesMasters/notesMaster1.xml" Id="R9c7c584876f24d06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slides/slide10.xml" Id="R6db77e46c881481b"/><Relationship Type="http://schemas.openxmlformats.org/officeDocument/2006/relationships/notesMaster" Target="../notesMasters/notesMaster1.xml" Id="R6d58922cde444979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slides/slide11.xml" Id="R1d874066416a469e"/><Relationship Type="http://schemas.openxmlformats.org/officeDocument/2006/relationships/notesMaster" Target="../notesMasters/notesMaster1.xml" Id="Rcbfc0a9e3c974aa9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slides/slide12.xml" Id="R0dcdaec9f2ae4b71"/><Relationship Type="http://schemas.openxmlformats.org/officeDocument/2006/relationships/notesMaster" Target="../notesMasters/notesMaster1.xml" Id="Re860e022a4c8459b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slides/slide13.xml" Id="Ree615eb303a7427f"/><Relationship Type="http://schemas.openxmlformats.org/officeDocument/2006/relationships/notesMaster" Target="../notesMasters/notesMaster1.xml" Id="R0982ef972f754702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../slides/slide14.xml" Id="R8a825384ce2f4513"/><Relationship Type="http://schemas.openxmlformats.org/officeDocument/2006/relationships/notesMaster" Target="../notesMasters/notesMaster1.xml" Id="Ra147422eaced4e76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../slides/slide15.xml" Id="R6937e067bf2e4a5c"/><Relationship Type="http://schemas.openxmlformats.org/officeDocument/2006/relationships/notesMaster" Target="../notesMasters/notesMaster1.xml" Id="R3407c60d449041e6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../slides/slide16.xml" Id="R366edfeece4e4816"/><Relationship Type="http://schemas.openxmlformats.org/officeDocument/2006/relationships/notesMaster" Target="../notesMasters/notesMaster1.xml" Id="R1b5a13abb551474e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../slides/slide17.xml" Id="Rc6c4546214654099"/><Relationship Type="http://schemas.openxmlformats.org/officeDocument/2006/relationships/notesMaster" Target="../notesMasters/notesMaster1.xml" Id="R9ebc6c9d1e904763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../slides/slide18.xml" Id="R3c7670199438419a"/><Relationship Type="http://schemas.openxmlformats.org/officeDocument/2006/relationships/notesMaster" Target="../notesMasters/notesMaster1.xml" Id="R81827d238b1c4f31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Návrh rozsahu pro odbornou rozpravu po prvních dvou letech. Povinný Tier 1 zahrnuje atmosférický vzduch, predikci a TCO. Odevzdání srpen 2028. Tier 2 a 3 jsou mimo povinné dokončení. Šablona: ČVUT, https://www.cvut.cz/logo-a-graficky-manual, soubor PowerPoint_CS.potx. Hlavní část přibližně 15–20 minut; přesný čas podle pozvánky.</a:t>
            </a:r>
          </a:p>
          <a:p xmlns:a="http://schemas.openxmlformats.org/drawingml/2006/main">
            <a:r>
              <a:t>Full English working title: Laser-Controlled Breakdown in Atmospheric-Pressure High-Voltage Gaps: Plasma-Channel Diagnostics, Stochastic Switching Dynamics, and Predictive Modelling.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Dlouhodobým cílem programu W je přispět k náhradě SF₆ technicky a ekonomicky životaschopnými vysokonapěťovými zařízeními. Tier 1 vytváří měřicí, predikční a ekonomický základ. Tier 2 může ověřit přenos do CO₂ a tlakových podmínek, Tier 3 navázat aplikacemi. Prokázání úplné náhrady SF₆ není podmínkou odevzdání disertace. W znamená celý výzkumný program. Disertace je vymezena Tier 1; CO₂ není podmínkou názvu ani výsledků disertace. Jde o uživatelem zvolený plán, nikoli o tvrzení, že jej již schválila komise.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Původ potvrdil autor: sedm sérií květen 2024 z diplomové práce, tři série únor 2025. Archiv HiLASE obsahuje odpovídající období. ICOLSE a APL nejsou dva nezávislé soubory deseti nových doktorandských měření. APL: doi:10.1109/APL65034.2025.11108944.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Parametry historické kampaně podle APL 2025, nikoli potvrzení aktuální dostupnosti. PERLA 1,2 ps; 1 kHz; atmosférický vzduch. Fotografie z autorského rukopisu APL, obr. 5. DOI:10.1109/APL65034.2025.11108944.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Rozsah 18–31 % jsou maximální poklesy v tabulce APL, ne U50 ani garance spolehlivosti. Rozsah zpoždění 0,164–8,124 µs je vztažen k elektrickému triggeru. Vztah intenzity a zpoždění vyžaduje ověření; nepřebíráme obecnou monotónnost. DOI:10.1109/APL65034.2025.11108944.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Východiskem je stochastický průraz a fyzika kanálu. Nijdam, Teunissen, Ebert, Plasma Sources Sci. Technol. 29,103001 (2020), doi:10.1088/1361-6595/abaa05. Ekonomická výhodnost se testuje, nikoli předpokládá.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Čtyři propojené výstupy: C-W1, C-W2, C-WE, C-W5. Referenční atmosférická konfigurace tvoří jádro; jedna druhá geometrie nebo polarita může sloužit jako kontrola robustnosti, pokud to dovolí data a zdroje. Negativní výsledek je přípustný při dostatečné citlivosti a kvantifikaci meze.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Povinné je definovat optické t0, elektrické kritérium, dobu pozorování a nezávislé opakování. Referenční režim doplní podle možností omezená kontrola robustnosti. Fyzikální veličiny nejsou odvozovány přímo z intenzity obrazu bez modelu. JCGM 100:2008, doi:10.59161/JCGM100-2008E.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M0 a M1 mají stejné trénovací a validační dělení. Vyloučit únik výsledku: znaky jen před průrazem, pevný časový interval, zachovat časně průrazné i neúspěšné pokusy. Pro cenzorovaná data: Kaplan a Meier, JASA 53,457–481 (1958), doi:10.1080/01621459.1958.10501452.</a:t>
            </a:r>
          </a:p>
          <a:p xmlns:a="http://schemas.openxmlformats.org/drawingml/2006/main">
            <a:r>
              <a:t>Teoretický postup: elektrostatický výpočet skutečné geometrie, kontrola konvergence, redukovaný model pouze s identifikovatelnými stavy, citlivost a stejné nezávislé dělení dat jako M0. Jas obrazu není přímá elektronová hustota. U nákladové volby před pulzem se post-pulzní znak integruje přes jeho rozdělení pro zvolenou konfiguraci.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Rozlišení času rozhodnutí je podstatné. Diagnostika po pulzu může předpovídat následující průraz téhož pokusu, ale energii již proběhlého pulzu nezmění. Tier 1 proto vyhodnocuje offline volbu konfigurace. Adaptivní následné výstřely a řízení patří do Tier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Referenční služba: požadovaný počet operací v definovaném elektrickém a časovém režimu atmosférického pracoviště. NIST Handbook 135, doi:10.6028/NIST.HB.135e2022-upd1. Cenu výzkumného laseru nesmíme současně zahrnout do CAPEX i do poplatku za přístup.</a:t>
            </a:r>
          </a:p>
          <a:p xmlns:a="http://schemas.openxmlformats.org/drawingml/2006/main">
            <a:r>
              <a:t>Rozlišit jednorázovou výzkumnou/uváděcí diagnostiku od diagnostiky nutné pro každou provozní operaci. Opakované diagnostické náklady patří do provozního TCO pouze pro službu, která ji používá.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c_ok = TCO/(A q). TCO je diskontovaný součet nákladů po odečtení zůstatkové hodnoty. A je počet pokusů, q pravděpodobnost vyhovující operace. Jmenovatel používá nediskontovaný fyzický počet. Pro fixní poptávku se musí upravit počet pokusů, kapacita a čas. Mimo přípustnou množinu není levný bod řešením.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Sběr ekonomických vstupů je součástí kampaně od začátku. Wall-plug spotřeba není optická energie pulzu. Životnost a servis jsou při absenci evidence scénáře. Zahrnout náklady diagnostiky; nevyvozovat snížení výpadků sítě ani prodloužení životnosti průmyslových vypínačů.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Campaign 0–5 odpovídají WP0–WP5 a kapitole 9 podkladu. Termíny jsou plánovací okna. C0: ověřit aparaturu, kalibraci a zahájit záznam nákladů. C1: nezávislé relace bez laseru, U50 a statické pole. C2: synchronizovaný pilot, opakování po seřízení, identifikovatelný model kanálu. C3: počty pokusů z pilotu, zmrazení M0/M1 a validačního dělení, červnové stop/go. C4: uchovat všechny pokusy, propojit diagnostiku a zopakovat kontrasty v nezávislé relaci. C5: zmrazit modely před otevřením validačních relací a nezávisle ověřit předem zvolený pracovní bod. WP6: náklady od C0, validovaný výkon z C5, vlastnické scénáře a citlivost; nejde o novou kampaň. WP7: psát průběžně, úplný text v červnu, odevzdání v srpnu 2028; obhajoba zvlášť. Tier 2 a 3 mimo povinné dokončení.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1: podzim 2027; Paper 2: jaro 2028. Oba atmosférický Tier 1. Přijetí nelze garantovat. Řád FEL 2023, články 5–10; oficiální zdroj https://intranet.fel.cvut.cz/en/education/rules/DoctoralStudyCode_FEE-2023.pdf. Ověřit konkrétní evidenci KOS a uznání publikací.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Závěrečný snímek hlavní části. Požádat o posouzení dostatečnosti fyzikálního i ekonomického přínosu pro konkrétní program, přiměřenosti rozsahu a pravidel validace. Nežádat automatické schválení neověřených výsledků.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Záložní snímek pro otázky. Nulový přínos M1 není automatický neúspěch studie, ale vyžaduje doloženou citlivost testu. Pokud neexistuje ekonomicky stabilní optimum nebo bod splňující požadavky, uvést tuto skutečnost.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Úplná bibliografie je v písemné studii. Zde jsou zkrácené vědecké citace. ICOLSE 2024: M. Sakala et al., Analysis of Laser Parameters for Efficient Quantum Ionization in Air for HV Circuit Triggering, autorův konferenční rukopis.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f3dad62f5734bb8"/><Relationship Type="http://schemas.openxmlformats.org/officeDocument/2006/relationships/image" Target="../media/image2.jpeg" Id="R733499d344b14d39"/><Relationship Type="http://schemas.openxmlformats.org/officeDocument/2006/relationships/image" Target="../media/image.png" Id="R4afd8b7c142741b0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bea408e55e9f45f6"/><Relationship Type="http://schemas.openxmlformats.org/officeDocument/2006/relationships/image" Target="../media/image3.jpeg" Id="R4d9219a7cecf4e55"/><Relationship Type="http://schemas.openxmlformats.org/officeDocument/2006/relationships/image" Target="../media/image.jpeg" Id="R6656fdf206f147bd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8bd157cec1d4277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a29036b7ef654ef8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446344f7731e4491"/></Relationships>
</file>

<file path=ppt/slideLayouts/slideLayout1.xml><?xml version="1.0" encoding="utf-8"?>
<p:sldLayout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rázek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3499d344b14d39"/>
          <a:srcRect xmlns:a="http://schemas.openxmlformats.org/drawingml/2006/main" l="0" t="-1" r="0" b="-1"/>
          <a:stretch xmlns:a="http://schemas.openxmlformats.org/drawingml/2006/main"/>
        </p:blipFill>
        <p:spPr>
          <a:xfrm xmlns:a="http://schemas.openxmlformats.org/drawingml/2006/main">
            <a:off x="0" y="2"/>
            <a:ext cx="10076688" cy="7556143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73181B-9450-4079-A28B-67BA2D3DF70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80000" y="1800001"/>
            <a:ext cx="7736694" cy="1446663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800" b="1" i="0" u="none" kern="4800" baseline="0">
                <a:solidFill>
                  <a:schemeClr val="bg1"/>
                </a:solidFill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r>
              <a:rPr sz="4800" b="1" i="0" u="none">
                <a:latin typeface="Technika-Bold"/>
                <a:ea typeface="Technika-Bold"/>
                <a:cs typeface="Technika-Bold"/>
              </a:rPr>
              <a:t>TITUL PREZENTACE</a:t>
            </a:r>
            <a:br/>
            <a:r>
              <a:rPr sz="4800" b="1" i="0" u="none">
                <a:latin typeface="Technika-Bold"/>
                <a:ea typeface="Technika-Bold"/>
                <a:cs typeface="Technika-Bold"/>
              </a:rPr>
              <a:t>PODTITUL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212B2EF-164E-4E34-83C5-ABEC115DB18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80000" y="3441732"/>
            <a:ext cx="7736693" cy="177172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1" i="0" u="none" kern="2800" baseline="0">
                <a:solidFill>
                  <a:schemeClr val="bg1"/>
                </a:solidFill>
                <a:latin typeface="Technika-Bold"/>
                <a:ea typeface="Technika-Bold"/>
                <a:cs typeface="Technika-Bol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NÁZEV FAKULTY A PRACOVIŠTĚ</a:t>
            </a:r>
            <a:br/>
            <a:r>
              <a:t>AUTOR/TITUL JMÉNO PŘÍJMENÍ</a:t>
            </a:r>
            <a:br/>
            <a:r>
              <a:t>DATUM</a:t>
            </a:r>
          </a:p>
        </p:txBody>
      </p:sp>
      <p:pic>
        <p:nvPicPr>
          <p:cNvPr id="9" name="Obráze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d8b7c142741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003" y="274320"/>
            <a:ext cx="1773814" cy="86352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1_Úvodní sníme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Obrázek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9219a7cecf4e5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1"/>
            <a:ext cx="10076688" cy="7555992"/>
          </a:xfrm>
          <a:prstGeom xmlns:a="http://schemas.openxmlformats.org/drawingml/2006/main" prst="rect">
            <a:avLst/>
          </a:prstGeom>
        </p:spPr>
      </p:pic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6fdf206f147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001" y="274320"/>
            <a:ext cx="1770611" cy="863485"/>
          </a:xfrm>
          <a:prstGeom xmlns:a="http://schemas.openxmlformats.org/drawingml/2006/main" prst="rect">
            <a:avLst/>
          </a:prstGeom>
        </p:spPr>
      </p:pic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22F81B21-EBBF-48CC-8DE7-90574F8511E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80000" y="1800001"/>
            <a:ext cx="7736694" cy="1446663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800" b="1" i="0" u="none" kern="4800" baseline="0">
                <a:solidFill>
                  <a:schemeClr val="tx1"/>
                </a:solidFill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r>
              <a:rPr sz="4800" b="1" i="0" u="none">
                <a:latin typeface="Technika-Bold"/>
                <a:ea typeface="Technika-Bold"/>
                <a:cs typeface="Technika-Bold"/>
              </a:rPr>
              <a:t>TITUL PREZENTACE</a:t>
            </a:r>
            <a:br/>
            <a:r>
              <a:rPr sz="4800" b="1" i="0" u="none">
                <a:latin typeface="Technika-Bold"/>
                <a:ea typeface="Technika-Bold"/>
                <a:cs typeface="Technika-Bold"/>
              </a:rPr>
              <a:t>PODTITUL</a:t>
            </a:r>
            <a:endParaRPr/>
          </a:p>
        </p:txBody>
      </p:sp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A2C6F5-6C8E-4D85-97FA-59346ABAF5A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80000" y="3441732"/>
            <a:ext cx="7736693" cy="177172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 b="1" i="0" u="none" kern="2800" baseline="0">
                <a:solidFill>
                  <a:schemeClr val="tx1"/>
                </a:solidFill>
                <a:latin typeface="Technika-Bold"/>
                <a:ea typeface="Technika-Bold"/>
                <a:cs typeface="Technika-Bol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 xmlns:a="http://schemas.openxmlformats.org/drawingml/2006/main">
            <a:r>
              <a:t>NÁZEV FAKULTY A PRACOVIŠTĚ</a:t>
            </a:r>
            <a:br/>
            <a:r>
              <a:t>AUTOR/TITUL JMÉNO PŘÍJMENÍ</a:t>
            </a:r>
            <a:br/>
            <a:r>
              <a:t>DATUM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00" y="1800000"/>
            <a:ext cx="7794000" cy="1087934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r>
              <a:t>PODTITUL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79999" y="3059766"/>
            <a:ext cx="7794000" cy="3528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>VLOŽIT TEXT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Nadpis a obráze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092F9D-2881-4860-8ACB-B3DCF863CF09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177198" y="1800001"/>
            <a:ext cx="7696800" cy="4788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>VLOŽIT OBRÁZEK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Obráze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Obdélník 3">
            <a:extLst xmlns:a="http://schemas.openxmlformats.org/drawingml/2006/main">
              <a:ext uri="{FF2B5EF4-FFF2-40B4-BE49-F238E27FC236}">
                <a16:creationId xmlns:a16="http://schemas.microsoft.com/office/drawing/2014/main" id="{507F6C8B-1DBF-457F-9C65-4842F88D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641" y="368300"/>
            <a:ext cx="6888707" cy="12284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192829-1012-4909-BCFF-C4EC7F48696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70000" y="270000"/>
            <a:ext cx="8604000" cy="6318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>VLOŽIT OBRÁZEK</a:t>
            </a:r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image" Target="../media/image.jpeg" Id="R3ebba90d1e764519"/><Relationship Type="http://schemas.openxmlformats.org/officeDocument/2006/relationships/theme" Target="theme/theme2.xml" Id="R00820cacb4524929"/><Relationship Type="http://schemas.openxmlformats.org/officeDocument/2006/relationships/slideLayout" Target="../slideLayouts/slideLayout1.xml" Id="R7c9422a675be4ff1"/><Relationship Type="http://schemas.openxmlformats.org/officeDocument/2006/relationships/slideLayout" Target="../slideLayouts/slideLayout2.xml" Id="Ra0b62cbc17d44767"/><Relationship Type="http://schemas.openxmlformats.org/officeDocument/2006/relationships/slideLayout" Target="../slideLayouts/slideLayout3.xml" Id="R9bbf3acf1b8e4baa"/><Relationship Type="http://schemas.openxmlformats.org/officeDocument/2006/relationships/slideLayout" Target="../slideLayouts/slideLayout4.xml" Id="Ra95fc6c1f82246e4"/><Relationship Type="http://schemas.openxmlformats.org/officeDocument/2006/relationships/slideLayout" Target="../slideLayouts/slideLayout5.xml" Id="R882fad74db3b429d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70EDF98-9353-4B1C-A8B0-CC5D22B43A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80000" y="1440000"/>
            <a:ext cx="77940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Kliknutím lze upravit styl.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965BAA-D2D7-4CDD-97AF-941691D817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80000" y="2880000"/>
            <a:ext cx="7794000" cy="37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Upravte styly předlohy textu.</a:t>
            </a:r>
          </a:p>
          <a:p xmlns:a="http://schemas.openxmlformats.org/drawingml/2006/main">
            <a:pPr lvl="1">
              <a:buNone/>
            </a:pPr>
            <a:r>
              <a:t>Druhá úroveň</a:t>
            </a:r>
          </a:p>
          <a:p xmlns:a="http://schemas.openxmlformats.org/drawingml/2006/main">
            <a:pPr lvl="2">
              <a:buNone/>
            </a:pPr>
            <a:r>
              <a:t>Třetí úroveň</a:t>
            </a:r>
          </a:p>
          <a:p xmlns:a="http://schemas.openxmlformats.org/drawingml/2006/main">
            <a:pPr lvl="3">
              <a:buNone/>
            </a:pPr>
            <a:r>
              <a:t>Čtvrtá úroveň</a:t>
            </a:r>
          </a:p>
          <a:p xmlns:a="http://schemas.openxmlformats.org/drawingml/2006/main">
            <a:pPr lvl="4">
              <a:buNone/>
            </a:pPr>
            <a:r>
              <a:t>Pátá úroveň</a:t>
            </a:r>
            <a:endParaRPr/>
          </a:p>
        </p:txBody>
      </p:sp>
      <p:pic>
        <p:nvPicPr>
          <p:cNvPr id="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ba90d1e7645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001" y="274320"/>
            <a:ext cx="1770611" cy="86348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9422a675be4ff1"/>
    <p:sldLayoutId xmlns:r="http://schemas.openxmlformats.org/officeDocument/2006/relationships" id="2147483650" r:id="Ra0b62cbc17d44767"/>
    <p:sldLayoutId xmlns:r="http://schemas.openxmlformats.org/officeDocument/2006/relationships" id="2147483651" r:id="R9bbf3acf1b8e4baa"/>
    <p:sldLayoutId xmlns:r="http://schemas.openxmlformats.org/officeDocument/2006/relationships" id="2147483652" r:id="Ra95fc6c1f82246e4"/>
    <p:sldLayoutId xmlns:r="http://schemas.openxmlformats.org/officeDocument/2006/relationships" id="2147483653" r:id="R882fad74db3b429d"/>
  </p:sldLayoutIdLst>
  <p:txStyles>
    <p:titleStyle>
      <a:lvl1pPr xmlns:a="http://schemas.openxmlformats.org/drawingml/2006/main" algn="l" defTabSz="914354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echnika-Bold"/>
          <a:ea typeface="Technika-Bold"/>
          <a:cs typeface="Technika-Bold"/>
        </a:defRPr>
      </a:lvl1pPr>
    </p:titleStyle>
    <p:bodyStyle>
      <a:lvl1pPr xmlns:a="http://schemas.openxmlformats.org/drawingml/2006/main" marL="228589" indent="-228589" algn="l" defTabSz="914354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Technika"/>
          <a:ea typeface="Technika"/>
          <a:cs typeface="Technika"/>
        </a:defRPr>
      </a:lvl1pPr>
      <a:lvl2pPr xmlns:a="http://schemas.openxmlformats.org/drawingml/2006/main" marL="685766" indent="-228589" algn="l" defTabSz="914354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Technika"/>
          <a:ea typeface="Technika"/>
          <a:cs typeface="Technika"/>
        </a:defRPr>
      </a:lvl2pPr>
      <a:lvl3pPr xmlns:a="http://schemas.openxmlformats.org/drawingml/2006/main" marL="1142942" indent="-228589" algn="l" defTabSz="914354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Technika"/>
          <a:ea typeface="Technika"/>
          <a:cs typeface="Technika"/>
        </a:defRPr>
      </a:lvl3pPr>
      <a:lvl4pPr xmlns:a="http://schemas.openxmlformats.org/drawingml/2006/main" marL="1600120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echnika"/>
          <a:ea typeface="Technika"/>
          <a:cs typeface="Technika"/>
        </a:defRPr>
      </a:lvl4pPr>
      <a:lvl5pPr xmlns:a="http://schemas.openxmlformats.org/drawingml/2006/main" marL="2057298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echnika"/>
          <a:ea typeface="Technika"/>
          <a:cs typeface="Technika"/>
        </a:defRPr>
      </a:lvl5pPr>
      <a:lvl6pPr xmlns:a="http://schemas.openxmlformats.org/drawingml/2006/main" marL="2514474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652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829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006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7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54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32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09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886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062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24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41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xmlns:a="http://schemas.openxmlformats.org/drawingml/2006/main" val="F26B43"/>
          </p15:clr>
        </p15:guide>
        <p15:guide id="2" pos="1315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chnika">
      <a:majorFont>
        <a:latin typeface="Technika-Bold"/>
        <a:ea typeface=""/>
        <a:cs typeface=""/>
      </a:majorFont>
      <a:minorFont>
        <a:latin typeface="Technika"/>
        <a:ea typeface=""/>
        <a:cs typeface="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e2caf51189ce4f13"/><Relationship Type="http://schemas.openxmlformats.org/officeDocument/2006/relationships/notesSlide" Target="../notesSlides/notesSlide1.xml" Id="Rc39c1fc92db84b54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1ebe86f253ca405e"/><Relationship Type="http://schemas.openxmlformats.org/officeDocument/2006/relationships/notesSlide" Target="../notesSlides/notesSlide2.xml" Id="Rdb7312a58b964f6f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c109f8d00d344874"/><Relationship Type="http://schemas.openxmlformats.org/officeDocument/2006/relationships/notesSlide" Target="../notesSlides/notesSlide3.xml" Id="R664b6495b707486e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8b85ef91e502465f"/><Relationship Type="http://schemas.openxmlformats.org/officeDocument/2006/relationships/image" Target="../media/image4.jpeg" Id="Rf798fc67d91f4fb4"/><Relationship Type="http://schemas.openxmlformats.org/officeDocument/2006/relationships/notesSlide" Target="../notesSlides/notesSlide4.xml" Id="R0b30dcc792504cf4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64cdfd8b179b422a"/><Relationship Type="http://schemas.openxmlformats.org/officeDocument/2006/relationships/notesSlide" Target="../notesSlides/notesSlide5.xml" Id="Rad38c9fe62ce4c5b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15852aa666b741b4"/><Relationship Type="http://schemas.openxmlformats.org/officeDocument/2006/relationships/notesSlide" Target="../notesSlides/notesSlide6.xml" Id="Rf327c0a3f48e4d8a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37df2eea51d14daa"/><Relationship Type="http://schemas.openxmlformats.org/officeDocument/2006/relationships/notesSlide" Target="../notesSlides/notesSlide7.xml" Id="Rd8aef583d706466b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99989dd36d334b57"/><Relationship Type="http://schemas.openxmlformats.org/officeDocument/2006/relationships/notesSlide" Target="../notesSlides/notesSlide8.xml" Id="R1cf313d6b9fc4c9c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e6674ac2854047c7"/><Relationship Type="http://schemas.openxmlformats.org/officeDocument/2006/relationships/notesSlide" Target="../notesSlides/notesSlide9.xml" Id="R2af45b2385884e1f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b48d076af0624393"/><Relationship Type="http://schemas.openxmlformats.org/officeDocument/2006/relationships/notesSlide" Target="../notesSlides/notesSlide10.xml" Id="R5e9ae350ad354971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6336d153cc0a4e94"/><Relationship Type="http://schemas.openxmlformats.org/officeDocument/2006/relationships/notesSlide" Target="../notesSlides/notesSlide11.xml" Id="R4908cf786ba8476c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df4a2b2433604ad9"/><Relationship Type="http://schemas.openxmlformats.org/officeDocument/2006/relationships/notesSlide" Target="../notesSlides/notesSlide12.xml" Id="R1a2a718d67c74a7a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9d3dbb8a16fb407c"/><Relationship Type="http://schemas.openxmlformats.org/officeDocument/2006/relationships/notesSlide" Target="../notesSlides/notesSlide13.xml" Id="Rc75ef7b321444780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43d2e7b2edbb441d"/><Relationship Type="http://schemas.openxmlformats.org/officeDocument/2006/relationships/notesSlide" Target="../notesSlides/notesSlide14.xml" Id="R98f732cc16f24074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1987daa7cdeb4292"/><Relationship Type="http://schemas.openxmlformats.org/officeDocument/2006/relationships/notesSlide" Target="../notesSlides/notesSlide15.xml" Id="R5bceffb206164b6b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f8c4cec9efa64204"/><Relationship Type="http://schemas.openxmlformats.org/officeDocument/2006/relationships/notesSlide" Target="../notesSlides/notesSlide16.xml" Id="Rabca05ba17e04964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ea09b285b4f148fb"/><Relationship Type="http://schemas.openxmlformats.org/officeDocument/2006/relationships/notesSlide" Target="../notesSlides/notesSlide17.xml" Id="R262f34746db54d5c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3.xml" Id="R45a565005ae54104"/><Relationship Type="http://schemas.openxmlformats.org/officeDocument/2006/relationships/notesSlide" Target="../notesSlides/notesSlide18.xml" Id="Ra3b1e1ee001747ad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Nadpis 9">
            <a:extLst xmlns:a="http://schemas.openxmlformats.org/drawingml/2006/main">
              <a:ext uri="{FF2B5EF4-FFF2-40B4-BE49-F238E27FC236}">
                <a16:creationId xmlns:a16="http://schemas.microsoft.com/office/drawing/2014/main" id="{D8C06871-E548-458C-A61F-366BDCBA599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76325" y="1800225"/>
            <a:ext cx="7791450" cy="16859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Technika-Bold"/>
                <a:ea typeface="Technika-Bold"/>
                <a:cs typeface="Technika-Bold"/>
              </a:rPr>
              <a:t>Laserem řízený průraz atmosférických</a:t>
            </a:r>
          </a:p>
          <a:p xmlns:a="http://schemas.openxmlformats.org/drawingml/2006/main">
            <a:r>
              <a:rPr sz="2400" b="1">
                <a:solidFill>
                  <a:srgbClr val="FFFFFF"/>
                </a:solidFill>
                <a:latin typeface="Technika-Bold"/>
                <a:ea typeface="Technika-Bold"/>
                <a:cs typeface="Technika-Bold"/>
              </a:rPr>
              <a:t>vysokonapěťových mezer</a:t>
            </a:r>
          </a:p>
        </p:txBody>
      </p:sp>
      <p:sp>
        <p:nvSpPr>
          <p:cNvPr id="11" name="Podnadpis 10">
            <a:extLst xmlns:a="http://schemas.openxmlformats.org/drawingml/2006/main">
              <a:ext uri="{FF2B5EF4-FFF2-40B4-BE49-F238E27FC236}">
                <a16:creationId xmlns:a16="http://schemas.microsoft.com/office/drawing/2014/main" id="{7E72EA76-958C-4BCA-93CF-BC8E0C12BA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6325" y="3246120"/>
            <a:ext cx="7791450" cy="214884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FFFFFF"/>
                </a:solidFill>
                <a:latin typeface="Technika"/>
                <a:ea typeface="Technika"/>
                <a:cs typeface="Technika"/>
              </a:rPr>
              <a:t>Diagnostika stavu plazmového kanálu, statistická dynamika</a:t>
            </a:r>
          </a:p>
          <a:p xmlns:a="http://schemas.openxmlformats.org/drawingml/2006/main">
            <a:r>
              <a:rPr sz="1500" b="0">
                <a:solidFill>
                  <a:srgbClr val="FFFFFF"/>
                </a:solidFill>
                <a:latin typeface="Technika"/>
                <a:ea typeface="Technika"/>
                <a:cs typeface="Technika"/>
              </a:rPr>
              <a:t>spínání a prediktivní modelování</a:t>
            </a:r>
          </a:p>
          <a:p xmlns:a="http://schemas.openxmlformats.org/drawingml/2006/main"/>
          <a:p xmlns:a="http://schemas.openxmlformats.org/drawingml/2006/main">
            <a:r>
              <a:rPr sz="1500" b="0">
                <a:solidFill>
                  <a:srgbClr val="FFFFFF"/>
                </a:solidFill>
                <a:latin typeface="Technika"/>
                <a:ea typeface="Technika"/>
                <a:cs typeface="Technika"/>
              </a:rPr>
              <a:t>Podklad k odborné rozpravě • revize </a:t>
            </a:r>
            <a:r>
              <a:rPr sz="1500" b="0">
                <a:solidFill>
                  <a:srgbClr val="FFFFFF"/>
                </a:solidFill>
                <a:latin typeface="Technika"/>
                <a:ea typeface="Technika"/>
                <a:cs typeface="Technika"/>
              </a:rPr>
              <a:t>16. září</a:t>
            </a:r>
            <a:r>
              <a:rPr sz="1500" b="0">
                <a:solidFill>
                  <a:srgbClr val="FFFFFF"/>
                </a:solidFill>
                <a:latin typeface="Technika"/>
                <a:ea typeface="Technika"/>
                <a:cs typeface="Technika"/>
              </a:rPr>
              <a:t> 2026</a:t>
            </a:r>
          </a:p>
          <a:p xmlns:a="http://schemas.openxmlformats.org/drawingml/2006/main">
            <a:r>
              <a:rPr sz="1500" b="0">
                <a:solidFill>
                  <a:srgbClr val="FFFFFF"/>
                </a:solidFill>
                <a:latin typeface="Technika"/>
                <a:ea typeface="Technika"/>
                <a:cs typeface="Technika"/>
              </a:rPr>
              <a:t>Ing. Michal Sakala | školitel: doc. Ing. Jan Mikeš, Ph.D.</a:t>
            </a:r>
          </a:p>
          <a:p xmlns:a="http://schemas.openxmlformats.org/drawingml/2006/main">
            <a:r>
              <a:rPr sz="1500" b="0">
                <a:solidFill>
                  <a:srgbClr val="FFFFFF"/>
                </a:solidFill>
                <a:latin typeface="Technika"/>
                <a:ea typeface="Technika"/>
                <a:cs typeface="Technika"/>
              </a:rPr>
              <a:t>ČVUT FEL, K13116 • ve spolupráci s HiLASE</a:t>
            </a:r>
          </a:p>
        </p:txBody>
      </p:sp>
      <p:sp>
        <p:nvSpPr>
          <p:cNvPr id="12" name="Atmosférický základ pro dlouhodobý cíl: techn">
            <a:extLst xmlns:a="http://schemas.openxmlformats.org/drawingml/2006/main">
              <a:ext uri="{FF2B5EF4-FFF2-40B4-BE49-F238E27FC236}">
                <a16:creationId xmlns:a16="http://schemas.microsoft.com/office/drawing/2014/main" id="{00679431-21EB-4CF9-BA7B-D51C0DC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38775"/>
            <a:ext cx="779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Technika"/>
                <a:ea typeface="Technika"/>
                <a:cs typeface="Technika"/>
              </a:defRPr>
            </a:pPr>
            <a:r>
              <a:rPr sz="1725" b="0">
                <a:solidFill>
                  <a:srgbClr val="FFFFFF"/>
                </a:solidFill>
                <a:latin typeface="Technika"/>
                <a:ea typeface="Technika"/>
                <a:cs typeface="Technika"/>
              </a:rPr>
              <a:t>Atmosférický základ pro dlouhodobý cíl: technicky a ekonomicky</a:t>
            </a:r>
          </a:p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Technika"/>
                <a:ea typeface="Technika"/>
                <a:cs typeface="Technika"/>
              </a:defRPr>
            </a:pPr>
            <a:r>
              <a:rPr sz="1725" b="0">
                <a:solidFill>
                  <a:srgbClr val="FFFFFF"/>
                </a:solidFill>
                <a:latin typeface="Technika"/>
                <a:ea typeface="Technika"/>
                <a:cs typeface="Technika"/>
              </a:rPr>
              <a:t>životaschopná vysokonapěťová zařízení bez SF₆.</a:t>
            </a:r>
          </a:p>
        </p:txBody>
      </p:sp>
    </p:spTree>
    <p:extLst>
      <p:ext uri="{BB962C8B-B14F-4D97-AF65-F5344CB8AC3E}">
        <p14:creationId xmlns:p14="http://schemas.microsoft.com/office/powerpoint/2010/main" val="1844520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Dlouhodobý cíl a rozsah disertace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Cíl programu: přispět k náhradě SF₆ ve vysoko">
            <a:extLst xmlns:a="http://schemas.openxmlformats.org/drawingml/2006/main">
              <a:ext uri="{FF2B5EF4-FFF2-40B4-BE49-F238E27FC236}">
                <a16:creationId xmlns:a16="http://schemas.microsoft.com/office/drawing/2014/main" id="{56654A14-6BE6-4B23-B698-AB549686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Cíl programu: přispět k náhradě SF₆ ve vysokonapěťových zařízeních.</a:t>
            </a:r>
          </a:p>
        </p:txBody>
      </p:sp>
      <p:sp>
        <p:nvSpPr>
          <p:cNvPr id="4" name="Tier 1: atmosférický vzduch, predikce a TCO.">
            <a:extLst xmlns:a="http://schemas.openxmlformats.org/drawingml/2006/main">
              <a:ext uri="{FF2B5EF4-FFF2-40B4-BE49-F238E27FC236}">
                <a16:creationId xmlns:a16="http://schemas.microsoft.com/office/drawing/2014/main" id="{29E75FE0-6087-432D-B0F5-93C1AE48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147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Tier 1: atmosférický vzduch, predikce a TCO.</a:t>
            </a:r>
          </a:p>
        </p:txBody>
      </p:sp>
      <p:sp>
        <p:nvSpPr>
          <p:cNvPr id="5" name="Odevzdání disertace: srpen 2028.">
            <a:extLst xmlns:a="http://schemas.openxmlformats.org/drawingml/2006/main">
              <a:ext uri="{FF2B5EF4-FFF2-40B4-BE49-F238E27FC236}">
                <a16:creationId xmlns:a16="http://schemas.microsoft.com/office/drawing/2014/main" id="{733DC8B7-AEFB-4815-BEEF-1997DE88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Odevzdání disertace: srpen 2028.</a:t>
            </a:r>
          </a:p>
        </p:txBody>
      </p:sp>
      <p:sp>
        <p:nvSpPr>
          <p:cNvPr id="6" name="Tier 2 a 3: navazující výzkum mimo povinné do">
            <a:extLst xmlns:a="http://schemas.openxmlformats.org/drawingml/2006/main">
              <a:ext uri="{FF2B5EF4-FFF2-40B4-BE49-F238E27FC236}">
                <a16:creationId xmlns:a16="http://schemas.microsoft.com/office/drawing/2014/main" id="{1AE1A9B3-A5F6-43A3-8F3A-8B00F86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911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Tier 2 a 3: navazující výzkum mimo povinné dokončení.</a:t>
            </a:r>
          </a:p>
        </p:txBody>
      </p:sp>
      <p:sp>
        <p:nvSpPr>
          <p:cNvPr id="7" name="2 / 18">
            <a:extLst xmlns:a="http://schemas.openxmlformats.org/drawingml/2006/main">
              <a:ext uri="{FF2B5EF4-FFF2-40B4-BE49-F238E27FC236}">
                <a16:creationId xmlns:a16="http://schemas.microsoft.com/office/drawing/2014/main" id="{DB158729-9CB9-49DB-9B66-3EAEB0A4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1641424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Původ dosavadních měření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76325" y="3048000"/>
          <a:ext xmlns:a="http://schemas.openxmlformats.org/drawingml/2006/main" cx="77914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00175"/>
                <a:gridCol w="3533775"/>
                <a:gridCol w="28575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echnika-Bold"/>
                          <a:ea typeface="Technika-Bold"/>
                          <a:cs typeface="Technika-Bold"/>
                        </a:rPr>
                        <a:t>Období</a:t>
                      </a:r>
                    </a:p>
                  </a:txBody>
                  <a:tcPr marL="91440" marR="91440" marT="45720" marB="45720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echnika-Bold"/>
                          <a:ea typeface="Technika-Bold"/>
                          <a:cs typeface="Technika-Bold"/>
                        </a:rPr>
                        <a:t>Experiment</a:t>
                      </a:r>
                    </a:p>
                  </a:txBody>
                  <a:tcPr marL="91440" marR="91440" marT="45720" marB="45720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echnika-Bold"/>
                          <a:ea typeface="Technika-Bold"/>
                          <a:cs typeface="Technika-Bold"/>
                        </a:rPr>
                        <a:t>Zařazení</a:t>
                      </a:r>
                    </a:p>
                  </a:txBody>
                  <a:tcPr marL="91440" marR="91440" marT="45720" marB="45720">
                    <a:solidFill>
                      <a:srgbClr val="0065B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05/2024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7 sérií průrazného napětí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Základ z diplomky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02/2025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3 série zpoždění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Nový přínos Ph.D.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APL 2025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7 převzatých + 3 nové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Společná publikace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" name="3 / 18">
            <a:extLst xmlns:a="http://schemas.openxmlformats.org/drawingml/2006/main">
              <a:ext uri="{FF2B5EF4-FFF2-40B4-BE49-F238E27FC236}">
                <a16:creationId xmlns:a16="http://schemas.microsoft.com/office/drawing/2014/main" id="{75770B96-3CE8-4F30-A8CD-A73F7A75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20018245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Experimentální základ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8fc67d91f4fb4"/>
          <a:stretch xmlns:a="http://schemas.openxmlformats.org/drawingml/2006/main"/>
        </p:blipFill>
        <p:spPr>
          <a:xfrm xmlns:a="http://schemas.openxmlformats.org/drawingml/2006/main">
            <a:off x="1076325" y="2982950"/>
            <a:ext cx="4381500" cy="3082850"/>
          </a:xfrm>
          <a:prstGeom xmlns:a="http://schemas.openxmlformats.org/drawingml/2006/main" prst="rect">
            <a:avLst/>
          </a:prstGeom>
        </p:spPr>
      </p:pic>
      <p:sp>
        <p:nvSpPr>
          <p:cNvPr id="4" name="Kulové elektrody Ø 20 mm&#10;Mezery 5 a 10 mm&#10;Zdr">
            <a:extLst xmlns:a="http://schemas.openxmlformats.org/drawingml/2006/main">
              <a:ext uri="{FF2B5EF4-FFF2-40B4-BE49-F238E27FC236}">
                <a16:creationId xmlns:a16="http://schemas.microsoft.com/office/drawing/2014/main" id="{FE434EC3-B8E3-4026-B4D6-60669123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30956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Kulové elektrody Ø 20 mm</a:t>
            </a:r>
          </a:p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Mezery 5 a 10 mm</a:t>
            </a:r>
          </a:p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Zdroj do 40 kV DC</a:t>
            </a:r>
          </a:p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Pikosekundový laser PERLA</a:t>
            </a:r>
          </a:p>
        </p:txBody>
      </p:sp>
      <p:sp>
        <p:nvSpPr>
          <p:cNvPr id="5" name="4 / 18">
            <a:extLst xmlns:a="http://schemas.openxmlformats.org/drawingml/2006/main">
              <a:ext uri="{FF2B5EF4-FFF2-40B4-BE49-F238E27FC236}">
                <a16:creationId xmlns:a16="http://schemas.microsoft.com/office/drawing/2014/main" id="{F2E85166-589E-4F13-847D-0B679429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0763092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Výsledky a jejich hranice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Tabulkové poklesy průrazného napětí: přibližn">
            <a:extLst xmlns:a="http://schemas.openxmlformats.org/drawingml/2006/main">
              <a:ext uri="{FF2B5EF4-FFF2-40B4-BE49-F238E27FC236}">
                <a16:creationId xmlns:a16="http://schemas.microsoft.com/office/drawing/2014/main" id="{2517B533-7167-4269-9132-7E5BD7A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Tabulkové poklesy průrazného napětí: přibližně 18–31 %.</a:t>
            </a:r>
          </a:p>
        </p:txBody>
      </p:sp>
      <p:sp>
        <p:nvSpPr>
          <p:cNvPr id="4" name="Zpoždění: 0,164–8,124 µs vůči elektrickému tr">
            <a:extLst xmlns:a="http://schemas.openxmlformats.org/drawingml/2006/main">
              <a:ext uri="{FF2B5EF4-FFF2-40B4-BE49-F238E27FC236}">
                <a16:creationId xmlns:a16="http://schemas.microsoft.com/office/drawing/2014/main" id="{BF1628AA-32E8-4F88-8D17-EA913678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147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Zpoždění: 0,164–8,124 µs vůči elektrickému triggeru.</a:t>
            </a:r>
          </a:p>
        </p:txBody>
      </p:sp>
      <p:sp>
        <p:nvSpPr>
          <p:cNvPr id="5" name="Dosud chybí kalibrovaný optický počátek a nez">
            <a:extLst xmlns:a="http://schemas.openxmlformats.org/drawingml/2006/main">
              <a:ext uri="{FF2B5EF4-FFF2-40B4-BE49-F238E27FC236}">
                <a16:creationId xmlns:a16="http://schemas.microsoft.com/office/drawing/2014/main" id="{57DFF6C2-5643-4088-9BE1-40A51543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Dosud chybí kalibrovaný optický počátek a nezávislá validace.</a:t>
            </a:r>
          </a:p>
        </p:txBody>
      </p:sp>
      <p:sp>
        <p:nvSpPr>
          <p:cNvPr id="6" name="Vliv intenzity na zpoždění zůstává k ověření.">
            <a:extLst xmlns:a="http://schemas.openxmlformats.org/drawingml/2006/main">
              <a:ext uri="{FF2B5EF4-FFF2-40B4-BE49-F238E27FC236}">
                <a16:creationId xmlns:a16="http://schemas.microsoft.com/office/drawing/2014/main" id="{8245155A-766B-4DD1-A380-F58B47AF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911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Vliv intenzity na zpoždění zůstává k ověření.</a:t>
            </a:r>
          </a:p>
        </p:txBody>
      </p:sp>
      <p:sp>
        <p:nvSpPr>
          <p:cNvPr id="7" name="5 / 18">
            <a:extLst xmlns:a="http://schemas.openxmlformats.org/drawingml/2006/main">
              <a:ext uri="{FF2B5EF4-FFF2-40B4-BE49-F238E27FC236}">
                <a16:creationId xmlns:a16="http://schemas.microsoft.com/office/drawing/2014/main" id="{A86EE9EF-79B5-41FD-958E-55015EFF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5758290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Hlavní výzkumná otázka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Zlepší měřený stav kanálu predikci průrazu&#10;a ">
            <a:extLst xmlns:a="http://schemas.openxmlformats.org/drawingml/2006/main">
              <a:ext uri="{FF2B5EF4-FFF2-40B4-BE49-F238E27FC236}">
                <a16:creationId xmlns:a16="http://schemas.microsoft.com/office/drawing/2014/main" id="{DDB69AE0-9C69-44AE-843D-C2DB97BE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95625"/>
            <a:ext cx="77914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defRPr>
            </a:pPr>
            <a:r>
              <a:rPr sz="240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rPr>
              <a:t>Zlepší měřený stav kanálu predikci průrazu</a:t>
            </a:r>
          </a:p>
          <a:p xmlns:a="http://schemas.openxmlformats.org/drawingml/2006/main">
            <a:pPr>
              <a:buNone/>
              <a:defRPr sz="240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defRPr>
            </a:pPr>
            <a:r>
              <a:rPr sz="240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rPr>
              <a:t>a umožní zvolit nejméně nákladné podmínky</a:t>
            </a:r>
          </a:p>
          <a:p xmlns:a="http://schemas.openxmlformats.org/drawingml/2006/main">
            <a:pPr>
              <a:buNone/>
              <a:defRPr sz="240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defRPr>
            </a:pPr>
            <a:r>
              <a:rPr sz="240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rPr>
              <a:t>při splnění technických požadavků?</a:t>
            </a:r>
          </a:p>
        </p:txBody>
      </p:sp>
      <p:sp>
        <p:nvSpPr>
          <p:cNvPr id="4" name="Výstup: ověřená oblast platnosti a rozhodovac">
            <a:extLst xmlns:a="http://schemas.openxmlformats.org/drawingml/2006/main">
              <a:ext uri="{FF2B5EF4-FFF2-40B4-BE49-F238E27FC236}">
                <a16:creationId xmlns:a16="http://schemas.microsoft.com/office/drawing/2014/main" id="{16B7642C-2209-425D-8837-05455D3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267325"/>
            <a:ext cx="771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20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Výstup: ověřená oblast platnosti a rozhodovací metoda.</a:t>
            </a:r>
          </a:p>
        </p:txBody>
      </p:sp>
      <p:sp>
        <p:nvSpPr>
          <p:cNvPr id="5" name="6 / 18">
            <a:extLst xmlns:a="http://schemas.openxmlformats.org/drawingml/2006/main">
              <a:ext uri="{FF2B5EF4-FFF2-40B4-BE49-F238E27FC236}">
                <a16:creationId xmlns:a16="http://schemas.microsoft.com/office/drawing/2014/main" id="{56B1549C-1ACE-4D56-BAF6-695B530A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9378062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Očekávaný disertační přínos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C-W1: reprodukovatelná mapa pravděpodobnosti ">
            <a:extLst xmlns:a="http://schemas.openxmlformats.org/drawingml/2006/main">
              <a:ext uri="{FF2B5EF4-FFF2-40B4-BE49-F238E27FC236}">
                <a16:creationId xmlns:a16="http://schemas.microsoft.com/office/drawing/2014/main" id="{C060D09E-64CB-4E9B-9F7C-E67D362E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C1: reprodukovatelná mapa pravděpodobnosti a časování.</a:t>
            </a:r>
          </a:p>
        </p:txBody>
      </p:sp>
      <p:sp>
        <p:nvSpPr>
          <p:cNvPr id="4" name="C-W2: přínos kanálového modelu na nezávislých">
            <a:extLst xmlns:a="http://schemas.openxmlformats.org/drawingml/2006/main">
              <a:ext uri="{FF2B5EF4-FFF2-40B4-BE49-F238E27FC236}">
                <a16:creationId xmlns:a16="http://schemas.microsoft.com/office/drawing/2014/main" id="{8CBCC897-CE3B-40B7-8333-0B2C250F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147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C2: přínos kanálového modelu na nezávislých datech.</a:t>
            </a:r>
          </a:p>
        </p:txBody>
      </p:sp>
      <p:sp>
        <p:nvSpPr>
          <p:cNvPr id="5" name="C-WE: náklady a volba přípustného provozního ">
            <a:extLst xmlns:a="http://schemas.openxmlformats.org/drawingml/2006/main">
              <a:ext uri="{FF2B5EF4-FFF2-40B4-BE49-F238E27FC236}">
                <a16:creationId xmlns:a16="http://schemas.microsoft.com/office/drawing/2014/main" id="{E59D40ED-8762-4AC9-A8DF-3B38285A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C3: náklady a volba přípustného provozního bodu.</a:t>
            </a:r>
          </a:p>
        </p:txBody>
      </p:sp>
      <p:sp>
        <p:nvSpPr>
          <p:cNvPr id="6" name="C-W5: dohledatelná data, kalibrace a výpočty.">
            <a:extLst xmlns:a="http://schemas.openxmlformats.org/drawingml/2006/main">
              <a:ext uri="{FF2B5EF4-FFF2-40B4-BE49-F238E27FC236}">
                <a16:creationId xmlns:a16="http://schemas.microsoft.com/office/drawing/2014/main" id="{C23B1BEA-70EC-4C79-B2D2-4850FBC4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911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C4: dohledatelná data, kalibrace a výpočty.</a:t>
            </a:r>
          </a:p>
        </p:txBody>
      </p:sp>
      <p:sp>
        <p:nvSpPr>
          <p:cNvPr id="7" name="7 / 18">
            <a:extLst xmlns:a="http://schemas.openxmlformats.org/drawingml/2006/main">
              <a:ext uri="{FF2B5EF4-FFF2-40B4-BE49-F238E27FC236}">
                <a16:creationId xmlns:a16="http://schemas.microsoft.com/office/drawing/2014/main" id="{4A0B6026-D452-4602-9459-6990C7E0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4115357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Metrologie a plán měření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Optické t₀ a rozpočet nejistoty měřicího řetě">
            <a:extLst xmlns:a="http://schemas.openxmlformats.org/drawingml/2006/main">
              <a:ext uri="{FF2B5EF4-FFF2-40B4-BE49-F238E27FC236}">
                <a16:creationId xmlns:a16="http://schemas.microsoft.com/office/drawing/2014/main" id="{6F230C43-999A-49E8-A768-7A2AB7F7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Optické t₀ a rozpočet nejistoty měřicího řetězce.</a:t>
            </a:r>
          </a:p>
        </p:txBody>
      </p:sp>
      <p:sp>
        <p:nvSpPr>
          <p:cNvPr id="4" name="Referenční režim a kompaktní potvrzující mati">
            <a:extLst xmlns:a="http://schemas.openxmlformats.org/drawingml/2006/main">
              <a:ext uri="{FF2B5EF4-FFF2-40B4-BE49-F238E27FC236}">
                <a16:creationId xmlns:a16="http://schemas.microsoft.com/office/drawing/2014/main" id="{EF5BF0A3-96D3-472F-8ACB-825FE49B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7623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Referenční režim a kompaktní potvrzující matice.</a:t>
            </a:r>
          </a:p>
        </p:txBody>
      </p:sp>
      <p:sp>
        <p:nvSpPr>
          <p:cNvPr id="5" name="Omezená kontrola robustnosti podle opakovatel">
            <a:extLst xmlns:a="http://schemas.openxmlformats.org/drawingml/2006/main">
              <a:ext uri="{FF2B5EF4-FFF2-40B4-BE49-F238E27FC236}">
                <a16:creationId xmlns:a16="http://schemas.microsoft.com/office/drawing/2014/main" id="{E258FC67-C7B3-4760-B8AA-B106E479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481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Omezená kontrola robustnosti podle opakovatelnosti.</a:t>
            </a:r>
          </a:p>
        </p:txBody>
      </p:sp>
      <p:sp>
        <p:nvSpPr>
          <p:cNvPr id="6" name="Záznam všech pokusů včetně neúspěšných výbojů">
            <a:extLst xmlns:a="http://schemas.openxmlformats.org/drawingml/2006/main">
              <a:ext uri="{FF2B5EF4-FFF2-40B4-BE49-F238E27FC236}">
                <a16:creationId xmlns:a16="http://schemas.microsoft.com/office/drawing/2014/main" id="{5B3E515A-6C1F-4801-87FE-D99AEB8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339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Záznam všech pokusů včetně neúspěšných výbojů.</a:t>
            </a:r>
          </a:p>
        </p:txBody>
      </p:sp>
      <p:sp>
        <p:nvSpPr>
          <p:cNvPr id="7" name="Opakování v nezávislých relacích; počty podle">
            <a:extLst xmlns:a="http://schemas.openxmlformats.org/drawingml/2006/main">
              <a:ext uri="{FF2B5EF4-FFF2-40B4-BE49-F238E27FC236}">
                <a16:creationId xmlns:a16="http://schemas.microsoft.com/office/drawing/2014/main" id="{9B30941C-1FC7-430B-92DC-F95C5ACA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8197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Opakování v nezávislých relacích; počty podle pilotu.</a:t>
            </a:r>
          </a:p>
        </p:txBody>
      </p:sp>
      <p:sp>
        <p:nvSpPr>
          <p:cNvPr id="8" name="8 / 18">
            <a:extLst xmlns:a="http://schemas.openxmlformats.org/drawingml/2006/main">
              <a:ext uri="{FF2B5EF4-FFF2-40B4-BE49-F238E27FC236}">
                <a16:creationId xmlns:a16="http://schemas.microsoft.com/office/drawing/2014/main" id="{4F7DE8B1-B1D1-4EFA-8C09-3EB4AD7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8032877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Predikce a nezávislá validace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M0: napětí a měřené laserové parametry.">
            <a:extLst xmlns:a="http://schemas.openxmlformats.org/drawingml/2006/main">
              <a:ext uri="{FF2B5EF4-FFF2-40B4-BE49-F238E27FC236}">
                <a16:creationId xmlns:a16="http://schemas.microsoft.com/office/drawing/2014/main" id="{89B7354B-DFB2-4028-B18E-EE9C9402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Výpočet pole → redukovaný model → ověření na nových datech.</a:t>
            </a:r>
          </a:p>
        </p:txBody>
      </p:sp>
      <p:sp>
        <p:nvSpPr>
          <p:cNvPr id="4" name="M1: stejné vstupy doplněné o stav kanálu.">
            <a:extLst xmlns:a="http://schemas.openxmlformats.org/drawingml/2006/main">
              <a:ext uri="{FF2B5EF4-FFF2-40B4-BE49-F238E27FC236}">
                <a16:creationId xmlns:a16="http://schemas.microsoft.com/office/drawing/2014/main" id="{6D1140C9-A44F-4DED-A3F7-0CC63B1A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147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M0: napětí a laser; M1 navíc identifikovatelný stav kanálu.</a:t>
            </a:r>
          </a:p>
        </p:txBody>
      </p:sp>
      <p:sp>
        <p:nvSpPr>
          <p:cNvPr id="5" name="Kalibrace pravděpodobnosti a zpoždění včetně ">
            <a:extLst xmlns:a="http://schemas.openxmlformats.org/drawingml/2006/main">
              <a:ext uri="{FF2B5EF4-FFF2-40B4-BE49-F238E27FC236}">
                <a16:creationId xmlns:a16="http://schemas.microsoft.com/office/drawing/2014/main" id="{0F937CBF-9079-40EF-9BF4-770E0F66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Pravděpodobnost a zpoždění se zahrnutím cenzorování.</a:t>
            </a:r>
          </a:p>
        </p:txBody>
      </p:sp>
      <p:sp>
        <p:nvSpPr>
          <p:cNvPr id="6" name="Celé měřicí relace ponechané mimo učení model">
            <a:extLst xmlns:a="http://schemas.openxmlformats.org/drawingml/2006/main">
              <a:ext uri="{FF2B5EF4-FFF2-40B4-BE49-F238E27FC236}">
                <a16:creationId xmlns:a16="http://schemas.microsoft.com/office/drawing/2014/main" id="{56DC9647-1EA3-4ED7-9078-0E1D8162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911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Celé měřicí relace ponechané mimo učení modelu.</a:t>
            </a:r>
          </a:p>
        </p:txBody>
      </p:sp>
      <p:sp>
        <p:nvSpPr>
          <p:cNvPr id="7" name="9 / 18">
            <a:extLst xmlns:a="http://schemas.openxmlformats.org/drawingml/2006/main">
              <a:ext uri="{FF2B5EF4-FFF2-40B4-BE49-F238E27FC236}">
                <a16:creationId xmlns:a16="http://schemas.microsoft.com/office/drawing/2014/main" id="{146E732A-117B-4C60-A14D-1615F445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1699147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Predikce není řízení téhož pulzu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Diagnostika po pulzu může předpovědět průraz.">
            <a:extLst xmlns:a="http://schemas.openxmlformats.org/drawingml/2006/main">
              <a:ext uri="{FF2B5EF4-FFF2-40B4-BE49-F238E27FC236}">
                <a16:creationId xmlns:a16="http://schemas.microsoft.com/office/drawing/2014/main" id="{4CD43BBC-3409-4696-94D5-0E20E821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95625"/>
            <a:ext cx="7791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defRPr>
            </a:pPr>
            <a:r>
              <a:rPr sz="225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rPr>
              <a:t>Diagnostika po pulzu může předpovědět průraz.</a:t>
            </a:r>
          </a:p>
          <a:p xmlns:a="http://schemas.openxmlformats.org/drawingml/2006/main">
            <a:pPr>
              <a:buNone/>
              <a:defRPr sz="225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defRPr>
            </a:pPr>
            <a:r>
              <a:rPr sz="2250" b="1">
                <a:solidFill>
                  <a:srgbClr val="172E3F"/>
                </a:solidFill>
                <a:latin typeface="Technika-Bold"/>
                <a:ea typeface="Technika-Bold"/>
                <a:cs typeface="Technika-Bold"/>
              </a:rPr>
              <a:t>Nemůže zpětně změnit energii tohoto pulzu.</a:t>
            </a:r>
          </a:p>
        </p:txBody>
      </p:sp>
      <p:sp>
        <p:nvSpPr>
          <p:cNvPr id="4" name="Tier 1: offline volba konfigurace z opakovaný">
            <a:extLst xmlns:a="http://schemas.openxmlformats.org/drawingml/2006/main">
              <a:ext uri="{FF2B5EF4-FFF2-40B4-BE49-F238E27FC236}">
                <a16:creationId xmlns:a16="http://schemas.microsoft.com/office/drawing/2014/main" id="{276BB85C-12B8-4491-9CE2-8F0148C7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029200"/>
            <a:ext cx="7791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20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Tier 1: offline volba konfigurace z opakovaných měření.</a:t>
            </a:r>
          </a:p>
          <a:p xmlns:a="http://schemas.openxmlformats.org/drawingml/2006/main">
            <a:pPr>
              <a:buNone/>
              <a:defRPr sz="20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20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Zvolený bod se následně ověří v nezávislé relaci.</a:t>
            </a:r>
          </a:p>
        </p:txBody>
      </p:sp>
      <p:sp>
        <p:nvSpPr>
          <p:cNvPr id="5" name="10 / 18">
            <a:extLst xmlns:a="http://schemas.openxmlformats.org/drawingml/2006/main">
              <a:ext uri="{FF2B5EF4-FFF2-40B4-BE49-F238E27FC236}">
                <a16:creationId xmlns:a16="http://schemas.microsoft.com/office/drawing/2014/main" id="{8F010EA2-A2A7-422A-9BBB-34C30E7F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2409475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TCO: co přesně hodnotíme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Služba: operace splňující elektrické a časové">
            <a:extLst xmlns:a="http://schemas.openxmlformats.org/drawingml/2006/main">
              <a:ext uri="{FF2B5EF4-FFF2-40B4-BE49-F238E27FC236}">
                <a16:creationId xmlns:a16="http://schemas.microsoft.com/office/drawing/2014/main" id="{59C4A0FD-AB99-49FD-BB6D-24CE3C3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13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913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Služba: operace splňující elektrické a časové požadavky.</a:t>
            </a:r>
          </a:p>
        </p:txBody>
      </p:sp>
      <p:sp>
        <p:nvSpPr>
          <p:cNvPr id="4" name="Porovnání přípustných konfigurací stejného pr">
            <a:extLst xmlns:a="http://schemas.openxmlformats.org/drawingml/2006/main">
              <a:ext uri="{FF2B5EF4-FFF2-40B4-BE49-F238E27FC236}">
                <a16:creationId xmlns:a16="http://schemas.microsoft.com/office/drawing/2014/main" id="{0D45521C-2AAC-469E-B926-0CE7FE98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147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13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913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Porovnání přípustných konfigurací stejného pracoviště.</a:t>
            </a:r>
          </a:p>
        </p:txBody>
      </p:sp>
      <p:sp>
        <p:nvSpPr>
          <p:cNvPr id="5" name="Odděleně sdílená infrastruktura a vlastní ins">
            <a:extLst xmlns:a="http://schemas.openxmlformats.org/drawingml/2006/main">
              <a:ext uri="{FF2B5EF4-FFF2-40B4-BE49-F238E27FC236}">
                <a16:creationId xmlns:a16="http://schemas.microsoft.com/office/drawing/2014/main" id="{17173C5A-6A53-47CB-B9BD-84A270C1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13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913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Odděleně sdílená infrastruktura a vlastní instalace.</a:t>
            </a:r>
          </a:p>
        </p:txBody>
      </p:sp>
      <p:sp>
        <p:nvSpPr>
          <p:cNvPr id="6" name="Investice, spotřeba, obsluha, servis a důsled">
            <a:extLst xmlns:a="http://schemas.openxmlformats.org/drawingml/2006/main">
              <a:ext uri="{FF2B5EF4-FFF2-40B4-BE49-F238E27FC236}">
                <a16:creationId xmlns:a16="http://schemas.microsoft.com/office/drawing/2014/main" id="{F6A8788F-05C4-4485-A16B-D70C30B5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911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13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913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Investice, spotřeba, obsluha, servis a důsledky selhání.</a:t>
            </a:r>
          </a:p>
        </p:txBody>
      </p:sp>
      <p:sp>
        <p:nvSpPr>
          <p:cNvPr id="7" name="11 / 18">
            <a:extLst xmlns:a="http://schemas.openxmlformats.org/drawingml/2006/main">
              <a:ext uri="{FF2B5EF4-FFF2-40B4-BE49-F238E27FC236}">
                <a16:creationId xmlns:a16="http://schemas.microsoft.com/office/drawing/2014/main" id="{A6CA1D39-71A8-480C-A45E-8C2BA8B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3166383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Náklady při splnění požadavků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Náklady na vyhovující operaci&#10;= TCO / očekáva">
            <a:extLst xmlns:a="http://schemas.openxmlformats.org/drawingml/2006/main">
              <a:ext uri="{FF2B5EF4-FFF2-40B4-BE49-F238E27FC236}">
                <a16:creationId xmlns:a16="http://schemas.microsoft.com/office/drawing/2014/main" id="{A97CA9F1-7C1B-45BA-8F51-4C2900B8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95625"/>
            <a:ext cx="7791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175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Náklady na vyhovující operaci</a:t>
            </a:r>
          </a:p>
          <a:p xmlns:a="http://schemas.openxmlformats.org/drawingml/2006/main">
            <a:pPr>
              <a:buNone/>
              <a:defRPr sz="2175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175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= TCO / očekávaný počet vyhovujících operací</a:t>
            </a:r>
          </a:p>
        </p:txBody>
      </p:sp>
      <p:sp>
        <p:nvSpPr>
          <p:cNvPr id="4" name="Podmínky: pravděpodobnost, časové okno a kapa">
            <a:extLst xmlns:a="http://schemas.openxmlformats.org/drawingml/2006/main">
              <a:ext uri="{FF2B5EF4-FFF2-40B4-BE49-F238E27FC236}">
                <a16:creationId xmlns:a16="http://schemas.microsoft.com/office/drawing/2014/main" id="{4D3E30E1-67A1-45C2-9489-1828E377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43450"/>
            <a:ext cx="77914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20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Podmínky: pravděpodobnost, časové okno a kapacita.</a:t>
            </a:r>
          </a:p>
          <a:p xmlns:a="http://schemas.openxmlformats.org/drawingml/2006/main">
            <a:pPr>
              <a:buNone/>
              <a:defRPr sz="20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20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Výsledky: hranice výhodnosti a citlivost na vstupy.</a:t>
            </a:r>
          </a:p>
          <a:p xmlns:a="http://schemas.openxmlformats.org/drawingml/2006/main">
            <a:pPr>
              <a:buNone/>
              <a:defRPr sz="2000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2000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Bez předpokladu, že vyšší energie je vždy výhodnější.</a:t>
            </a:r>
          </a:p>
        </p:txBody>
      </p:sp>
      <p:sp>
        <p:nvSpPr>
          <p:cNvPr id="5" name="12 / 18">
            <a:extLst xmlns:a="http://schemas.openxmlformats.org/drawingml/2006/main">
              <a:ext uri="{FF2B5EF4-FFF2-40B4-BE49-F238E27FC236}">
                <a16:creationId xmlns:a16="http://schemas.microsoft.com/office/drawing/2014/main" id="{03A9FDCA-B88B-48D6-90FB-54AF51B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7165269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Jak získáme ekonomické vstupy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76325" y="3048000"/>
          <a:ext xmlns:a="http://schemas.openxmlformats.org/drawingml/2006/main" cx="77914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95725"/>
                <a:gridCol w="389572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echnika-Bold"/>
                          <a:ea typeface="Technika-Bold"/>
                          <a:cs typeface="Technika-Bold"/>
                        </a:rPr>
                        <a:t>Měřené / doložené</a:t>
                      </a:r>
                    </a:p>
                  </a:txBody>
                  <a:tcPr marL="91440" marR="91440" marT="45720" marB="45720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echnika-Bold"/>
                          <a:ea typeface="Technika-Bold"/>
                          <a:cs typeface="Technika-Bold"/>
                        </a:rPr>
                        <a:t>Scénáře a citlivost</a:t>
                      </a:r>
                    </a:p>
                  </a:txBody>
                  <a:tcPr marL="91440" marR="91440" marT="45720" marB="45720">
                    <a:solidFill>
                      <a:srgbClr val="0065B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Úspěšnost, časování, reset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Počet operací a využití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Příkon, obsluha, nastavování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Vlastnictví a alokace investice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Ceny a servisní záznamy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Životnost a cena náhrady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" name="13 / 18">
            <a:extLst xmlns:a="http://schemas.openxmlformats.org/drawingml/2006/main">
              <a:ext uri="{FF2B5EF4-FFF2-40B4-BE49-F238E27FC236}">
                <a16:creationId xmlns:a16="http://schemas.microsoft.com/office/drawing/2014/main" id="{DAE65074-9423-4213-BA2A-C9922949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8746173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Harmonogram základní disertace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76325" y="2990850"/>
          <a:ext xmlns:a="http://schemas.openxmlformats.org/drawingml/2006/main" cx="77914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6029325"/>
              </a:tblGrid>
              <a:tr h="628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Technika-Bold"/>
                          <a:ea typeface="Technika-Bold"/>
                          <a:cs typeface="Technika-Bold"/>
                        </a:rPr>
                        <a:t>Období</a:t>
                      </a:r>
                    </a:p>
                  </a:txBody>
                  <a:tcPr marL="91440" marR="91440" marT="45720" marB="45720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Technika-Bold"/>
                          <a:ea typeface="Technika-Bold"/>
                          <a:cs typeface="Technika-Bold"/>
                        </a:rPr>
                        <a:t>WP0–WP5; poté WP6–WP7</a:t>
                      </a:r>
                    </a:p>
                  </a:txBody>
                  <a:tcPr marL="91440" marR="91440" marT="45720" marB="45720">
                    <a:solidFill>
                      <a:srgbClr val="0065B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09–12/2026</a:t>
                      </a:r>
                    </a:p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01–02/2027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WP0: aparatura, časování a protokol</a:t>
                      </a:r>
                    </a:p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WP1: reference bez laseru a model pole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03–04/2027</a:t>
                      </a:r>
                    </a:p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05–06/2027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WP2: pilot diagnostiky a model kanálu</a:t>
                      </a:r>
                    </a:p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WP3: screening a červnové stop/go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07–10/2027</a:t>
                      </a:r>
                    </a:p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11/27–02/28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WP4: potvrzující data, opakování</a:t>
                      </a:r>
                    </a:p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WP5: nezávislá validace M0/M1 a volby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03–04/2028</a:t>
                      </a:r>
                    </a:p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06–08/2028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WP6: TCO a citlivost</a:t>
                      </a:r>
                    </a:p>
                    <a:p>
                      <a:r>
                        <a:rPr sz="1425" b="0">
                          <a:solidFill>
                            <a:srgbClr val="172E3F"/>
                          </a:solidFill>
                          <a:latin typeface="Technika"/>
                          <a:ea typeface="Technika"/>
                          <a:cs typeface="Technika"/>
                        </a:rPr>
                        <a:t>WP7: text, revize, odevzdání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14 / 18">
            <a:extLst xmlns:a="http://schemas.openxmlformats.org/drawingml/2006/main">
              <a:ext uri="{FF2B5EF4-FFF2-40B4-BE49-F238E27FC236}">
                <a16:creationId xmlns:a16="http://schemas.microsoft.com/office/drawing/2014/main" id="{7E8735FC-0635-4A67-9120-84AAB11B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73295341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Publikace a studijní podmínky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Článek 1: nová metrologie a stochastická měře">
            <a:extLst xmlns:a="http://schemas.openxmlformats.org/drawingml/2006/main">
              <a:ext uri="{FF2B5EF4-FFF2-40B4-BE49-F238E27FC236}">
                <a16:creationId xmlns:a16="http://schemas.microsoft.com/office/drawing/2014/main" id="{A1C6D97B-C1E7-441A-AB46-EA366502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Článek 1: nová metrologie a stochastická měření (2027).</a:t>
            </a:r>
          </a:p>
        </p:txBody>
      </p:sp>
      <p:sp>
        <p:nvSpPr>
          <p:cNvPr id="4" name="Článek 2: validace predikce a TCO (jaro 2028)">
            <a:extLst xmlns:a="http://schemas.openxmlformats.org/drawingml/2006/main">
              <a:ext uri="{FF2B5EF4-FFF2-40B4-BE49-F238E27FC236}">
                <a16:creationId xmlns:a16="http://schemas.microsoft.com/office/drawing/2014/main" id="{BF61FE7B-C026-45EF-80BA-2234BBD5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147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Článek 2: validace predikce a TCO (jaro 2028).</a:t>
            </a:r>
          </a:p>
        </p:txBody>
      </p:sp>
      <p:sp>
        <p:nvSpPr>
          <p:cNvPr id="5" name="Ani jeden povinný článek nezávisí na CO₂.">
            <a:extLst xmlns:a="http://schemas.openxmlformats.org/drawingml/2006/main">
              <a:ext uri="{FF2B5EF4-FFF2-40B4-BE49-F238E27FC236}">
                <a16:creationId xmlns:a16="http://schemas.microsoft.com/office/drawing/2014/main" id="{E80DA4D8-25F7-435A-AFDE-0E8B56CD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Ani jeden povinný článek nezávisí na CO₂.</a:t>
            </a:r>
          </a:p>
        </p:txBody>
      </p:sp>
      <p:sp>
        <p:nvSpPr>
          <p:cNvPr id="6" name="Odeslání není přijetí; samostatně ověřit KOS ">
            <a:extLst xmlns:a="http://schemas.openxmlformats.org/drawingml/2006/main">
              <a:ext uri="{FF2B5EF4-FFF2-40B4-BE49-F238E27FC236}">
                <a16:creationId xmlns:a16="http://schemas.microsoft.com/office/drawing/2014/main" id="{DD5C8066-2204-4655-84EB-27F094B8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911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Odeslání není přijetí; samostatně ověřit KOS a mobilitu.</a:t>
            </a:r>
          </a:p>
        </p:txBody>
      </p:sp>
      <p:sp>
        <p:nvSpPr>
          <p:cNvPr id="7" name="15 / 18">
            <a:extLst xmlns:a="http://schemas.openxmlformats.org/drawingml/2006/main">
              <a:ext uri="{FF2B5EF4-FFF2-40B4-BE49-F238E27FC236}">
                <a16:creationId xmlns:a16="http://schemas.microsoft.com/office/drawing/2014/main" id="{313BA34B-FF89-4032-BCD2-1A4C8EAB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1025557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Rozhodnutí pro odbornou rozpravu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Je atmosférické jádro s C-WE dostatečné pro d">
            <a:extLst xmlns:a="http://schemas.openxmlformats.org/drawingml/2006/main">
              <a:ext uri="{FF2B5EF4-FFF2-40B4-BE49-F238E27FC236}">
                <a16:creationId xmlns:a16="http://schemas.microsoft.com/office/drawing/2014/main" id="{78145F58-4F09-4454-948F-94D49DD9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Je atmosférické jádro s C3 dostatečné pro disertaci?</a:t>
            </a:r>
          </a:p>
        </p:txBody>
      </p:sp>
      <p:sp>
        <p:nvSpPr>
          <p:cNvPr id="4" name="Je zvolená služba vhodná pro technicko-ekonom">
            <a:extLst xmlns:a="http://schemas.openxmlformats.org/drawingml/2006/main">
              <a:ext uri="{FF2B5EF4-FFF2-40B4-BE49-F238E27FC236}">
                <a16:creationId xmlns:a16="http://schemas.microsoft.com/office/drawing/2014/main" id="{0C83D00B-999B-4C19-9610-E3A306BF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147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Je zvolená služba vhodná pro technicko-ekonomické hodnocení?</a:t>
            </a:r>
          </a:p>
        </p:txBody>
      </p:sp>
      <p:sp>
        <p:nvSpPr>
          <p:cNvPr id="5" name="Jsou metrologie a nezávislá validace přiměřen">
            <a:extLst xmlns:a="http://schemas.openxmlformats.org/drawingml/2006/main">
              <a:ext uri="{FF2B5EF4-FFF2-40B4-BE49-F238E27FC236}">
                <a16:creationId xmlns:a16="http://schemas.microsoft.com/office/drawing/2014/main" id="{688CB007-2840-40B2-B3B8-AD6A59A7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Jsou metrologie a nezávislá validace přiměřené?</a:t>
            </a:r>
          </a:p>
        </p:txBody>
      </p:sp>
      <p:sp>
        <p:nvSpPr>
          <p:cNvPr id="6" name="Potvrdit rozsah do 08/2028; Tier 2 a 3 jako p">
            <a:extLst xmlns:a="http://schemas.openxmlformats.org/drawingml/2006/main">
              <a:ext uri="{FF2B5EF4-FFF2-40B4-BE49-F238E27FC236}">
                <a16:creationId xmlns:a16="http://schemas.microsoft.com/office/drawing/2014/main" id="{350E477D-E07F-43DC-8F0F-DC157966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911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87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Potvrdit rozsah do 08/2028; Tier 2 a 3 jako pokračování.</a:t>
            </a:r>
          </a:p>
        </p:txBody>
      </p:sp>
      <p:sp>
        <p:nvSpPr>
          <p:cNvPr id="7" name="16 / 18">
            <a:extLst xmlns:a="http://schemas.openxmlformats.org/drawingml/2006/main">
              <a:ext uri="{FF2B5EF4-FFF2-40B4-BE49-F238E27FC236}">
                <a16:creationId xmlns:a16="http://schemas.microsoft.com/office/drawing/2014/main" id="{A452AF28-C473-4CCE-9274-4A7BD0E6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4085649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Záloha: meze a alternativní výsledky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Nereprodukovatelný znak → vyčíslit diagnostic">
            <a:extLst xmlns:a="http://schemas.openxmlformats.org/drawingml/2006/main">
              <a:ext uri="{FF2B5EF4-FFF2-40B4-BE49-F238E27FC236}">
                <a16:creationId xmlns:a16="http://schemas.microsoft.com/office/drawing/2014/main" id="{2858AA8C-9399-4D9A-8F2E-86E33BF4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765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13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913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Nereprodukovatelný znak → vyčíslit diagnostickou mez.</a:t>
            </a:r>
          </a:p>
        </p:txBody>
      </p:sp>
      <p:sp>
        <p:nvSpPr>
          <p:cNvPr id="4" name="M1 nezlepší predikci → ponechat jednodušší M0">
            <a:extLst xmlns:a="http://schemas.openxmlformats.org/drawingml/2006/main">
              <a:ext uri="{FF2B5EF4-FFF2-40B4-BE49-F238E27FC236}">
                <a16:creationId xmlns:a16="http://schemas.microsoft.com/office/drawing/2014/main" id="{5FA10BF8-6E6E-4BC4-A0B0-A77821BE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147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13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913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M1 nezlepší predikci → ponechat jednodušší M0.</a:t>
            </a:r>
          </a:p>
        </p:txBody>
      </p:sp>
      <p:sp>
        <p:nvSpPr>
          <p:cNvPr id="5" name="Žádný přípustný bod → uvést chybějící výkonov">
            <a:extLst xmlns:a="http://schemas.openxmlformats.org/drawingml/2006/main">
              <a:ext uri="{FF2B5EF4-FFF2-40B4-BE49-F238E27FC236}">
                <a16:creationId xmlns:a16="http://schemas.microsoft.com/office/drawing/2014/main" id="{6F479DBC-78C4-4F03-AD0F-FA6A76AB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13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913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Žádný přípustný bod → uvést chybějící výkonovou rezervu.</a:t>
            </a:r>
          </a:p>
        </p:txBody>
      </p:sp>
      <p:sp>
        <p:nvSpPr>
          <p:cNvPr id="6" name="Nestabilní pořadí nákladů → uvést scénáře a h">
            <a:extLst xmlns:a="http://schemas.openxmlformats.org/drawingml/2006/main">
              <a:ext uri="{FF2B5EF4-FFF2-40B4-BE49-F238E27FC236}">
                <a16:creationId xmlns:a16="http://schemas.microsoft.com/office/drawing/2014/main" id="{3E9FADAA-0CD0-4083-8219-07FE53BD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91175"/>
            <a:ext cx="771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13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913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Nestabilní pořadí nákladů → uvést scénáře a hranice.</a:t>
            </a:r>
          </a:p>
        </p:txBody>
      </p:sp>
      <p:sp>
        <p:nvSpPr>
          <p:cNvPr id="7" name="17 / 18">
            <a:extLst xmlns:a="http://schemas.openxmlformats.org/drawingml/2006/main">
              <a:ext uri="{FF2B5EF4-FFF2-40B4-BE49-F238E27FC236}">
                <a16:creationId xmlns:a16="http://schemas.microsoft.com/office/drawing/2014/main" id="{D4675DF8-8F1F-438D-9449-EAC8A5DF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33361627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0EF11356-0EEB-4AB7-89F5-4810A02CD52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80040" y="1800035"/>
            <a:ext cx="7794022" cy="1000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2800" kern="28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defRPr>
            </a:pPr>
            <a:r>
              <a:rPr sz="2800" b="1">
                <a:solidFill>
                  <a:srgbClr val="0065BD"/>
                </a:solidFill>
                <a:latin typeface="Technika-Bold"/>
                <a:ea typeface="Technika-Bold"/>
                <a:cs typeface="Technika-Bold"/>
              </a:rPr>
              <a:t>Záloha: hlavní odborné zdroje</a:t>
            </a:r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322DA-6664-4043-AD4C-1222A78BF49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080040" y="3059811"/>
            <a:ext cx="7794022" cy="35279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kern="3000" baseline="0">
                <a:latin typeface="Technika-Bold"/>
                <a:ea typeface="Technika-Bold"/>
                <a:cs typeface="Technika-Bold"/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  <a:endParaRPr/>
          </a:p>
        </p:txBody>
      </p:sp>
      <p:sp>
        <p:nvSpPr>
          <p:cNvPr id="3" name="Sakala et al. APL 2025, s. 423–428.&#10;DOI: 10.1">
            <a:extLst xmlns:a="http://schemas.openxmlformats.org/drawingml/2006/main">
              <a:ext uri="{FF2B5EF4-FFF2-40B4-BE49-F238E27FC236}">
                <a16:creationId xmlns:a16="http://schemas.microsoft.com/office/drawing/2014/main" id="{401940BC-7552-4AC4-98C6-ED3C1B42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19425"/>
            <a:ext cx="77914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72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Sakala et al. APL 2025, s. 423–428.</a:t>
            </a:r>
          </a:p>
          <a:p xmlns:a="http://schemas.openxmlformats.org/drawingml/2006/main">
            <a:pPr>
              <a:buNone/>
              <a:defRPr sz="172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72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DOI: 10.1109/APL65034.2025.11108944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72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Nijdam, Teunissen, Ebert. PSST 29, 103001 (2020).</a:t>
            </a:r>
          </a:p>
          <a:p xmlns:a="http://schemas.openxmlformats.org/drawingml/2006/main">
            <a:pPr>
              <a:buNone/>
              <a:defRPr sz="172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72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DOI: 10.1088/1361-6595/abaa05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72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JCGM 100:2008 a JCGM 101:2008 (GUM).</a:t>
            </a:r>
          </a:p>
          <a:p xmlns:a="http://schemas.openxmlformats.org/drawingml/2006/main">
            <a:pPr>
              <a:buNone/>
              <a:defRPr sz="172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72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Kneifel, Webb. NIST Handbook 135 (2022, aktualizace).</a:t>
            </a:r>
          </a:p>
          <a:p xmlns:a="http://schemas.openxmlformats.org/drawingml/2006/main">
            <a:pPr>
              <a:buNone/>
              <a:defRPr sz="1725" b="0">
                <a:solidFill>
                  <a:srgbClr val="172E3F"/>
                </a:solidFill>
                <a:latin typeface="Technika"/>
                <a:ea typeface="Technika"/>
                <a:cs typeface="Technika"/>
              </a:defRPr>
            </a:pPr>
            <a:r>
              <a:rPr sz="1725" b="0">
                <a:solidFill>
                  <a:srgbClr val="172E3F"/>
                </a:solidFill>
                <a:latin typeface="Technika"/>
                <a:ea typeface="Technika"/>
                <a:cs typeface="Technika"/>
              </a:rPr>
              <a:t>DOI: 10.6028/NIST.HB.135e2022-upd1</a:t>
            </a:r>
          </a:p>
        </p:txBody>
      </p:sp>
      <p:sp>
        <p:nvSpPr>
          <p:cNvPr id="4" name="18 / 18">
            <a:extLst xmlns:a="http://schemas.openxmlformats.org/drawingml/2006/main">
              <a:ext uri="{FF2B5EF4-FFF2-40B4-BE49-F238E27FC236}">
                <a16:creationId xmlns:a16="http://schemas.microsoft.com/office/drawing/2014/main" id="{BF23660A-ED92-4E6A-9F09-FB7F75D9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581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07587"/>
                </a:solidFill>
                <a:latin typeface="Technika"/>
                <a:ea typeface="Technika"/>
                <a:cs typeface="Technika"/>
              </a:defRPr>
            </a:pPr>
            <a:r>
              <a:rPr sz="900" b="0">
                <a:solidFill>
                  <a:srgbClr val="607587"/>
                </a:solidFill>
                <a:latin typeface="Technika"/>
                <a:ea typeface="Technika"/>
                <a:cs typeface="Technika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106414623"/>
      </p:ext>
    </p:extLst>
  </p:cSld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chnika">
      <a:majorFont>
        <a:latin typeface="Technika-Bold"/>
        <a:ea typeface=""/>
        <a:cs typeface=""/>
      </a:majorFont>
      <a:minorFont>
        <a:latin typeface="Technika"/>
        <a:ea typeface=""/>
        <a:cs typeface="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386569195FF1345A30913254684EADF" ma:contentTypeVersion="13" ma:contentTypeDescription="Vytvoří nový dokument" ma:contentTypeScope="" ma:versionID="3e4b2dabced46775fdea7d8f5e8f2177">
  <xsd:schema xmlns:xsd="http://www.w3.org/2001/XMLSchema" xmlns:xs="http://www.w3.org/2001/XMLSchema" xmlns:p="http://schemas.microsoft.com/office/2006/metadata/properties" xmlns:ns2="2aeff888-9b8e-4f9e-9cd3-f5b9e3439e49" xmlns:ns3="ae4795c9-86c5-42f8-9cbe-7b3b97b574a8" targetNamespace="http://schemas.microsoft.com/office/2006/metadata/properties" ma:root="true" ma:fieldsID="4871b6f49bcd8a92c7595d356567784e" ns2:_="" ns3:_="">
    <xsd:import namespace="2aeff888-9b8e-4f9e-9cd3-f5b9e3439e49"/>
    <xsd:import namespace="ae4795c9-86c5-42f8-9cbe-7b3b97b574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eff888-9b8e-4f9e-9cd3-f5b9e3439e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66d2233e-f51f-4a80-9a78-f59575beef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4795c9-86c5-42f8-9cbe-7b3b97b574a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8478457-e3c8-46df-9939-9e4b3078026c}" ma:internalName="TaxCatchAll" ma:showField="CatchAllData" ma:web="ae4795c9-86c5-42f8-9cbe-7b3b97b574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4795c9-86c5-42f8-9cbe-7b3b97b574a8" xsi:nil="true"/>
    <lcf76f155ced4ddcb4097134ff3c332f xmlns="2aeff888-9b8e-4f9e-9cd3-f5b9e3439e4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1DFFA2-A8B0-4D2F-86B6-456B50AD5D10}"/>
</file>

<file path=customXml/itemProps2.xml><?xml version="1.0" encoding="utf-8"?>
<ds:datastoreItem xmlns:ds="http://schemas.openxmlformats.org/officeDocument/2006/customXml" ds:itemID="{E9552D97-AF06-43CF-9CCC-789489FD50EB}"/>
</file>

<file path=customXml/itemProps3.xml><?xml version="1.0" encoding="utf-8"?>
<ds:datastoreItem xmlns:ds="http://schemas.openxmlformats.org/officeDocument/2006/customXml" ds:itemID="{024889D1-DFE9-4C85-98AB-841F25DB04E9}"/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2026-09-16T20:21:46Z</dcterms:created>
  <dcterms:modified xsi:type="dcterms:W3CDTF">2026-09-16T20:21:46Z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0x0101000386569195FF1345A30913254684EADF</vt:lpwstr>
  </property>
  <property fmtid="{D5CDD505-2E9C-101B-9397-08002B2CF9AE}" pid="3" name="MediaServiceImageTags">
    <vt:lpwstr/>
  </property>
</Properties>
</file>